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裸金属租赁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财务分析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251460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5146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2514600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51460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Blackwell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单集装箱 · 280块GPU · 2026年8月 · 美元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执行摘要 — 核心财务指标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4069080" cy="2926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  —  总资本支出 $2.70M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749808"/>
            <a:ext cx="4069080" cy="292608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749808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Blackwell  —  总资本支出 $5.50M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总资本支出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$2.70M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55064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0784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年度营收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00784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90088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35808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年度净现金流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35808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$911K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EBITDA利润率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55064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00784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静态回收期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00784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2.97 yrs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90088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35808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内部收益率（5年）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35808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总资本支出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$5.50M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89904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35624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年度营收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35624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$3.92M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24928" y="111556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70648" y="11521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年度净现金流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70648" y="133502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$2.80M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754880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EBITDA利润率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87.4%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089904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35624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静态回收期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35624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1.97 yrs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424928" y="2395728"/>
            <a:ext cx="12618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  <a:effectLst>
            <a:outerShdw blurRad="38100" dist="12700" dir="2700000" algn="bl" rotWithShape="0">
              <a:srgbClr val="999999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70648" y="243230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内部收益率（5年）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70648" y="2615184"/>
            <a:ext cx="11704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462272" y="749808"/>
            <a:ext cx="0" cy="3383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639312"/>
            <a:ext cx="8503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639312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6000：年现金流高出2.1倍，回收期快1.0年，IRR高出19个百分点。NPV（10%折现）：RTX 5090 = $883K | Pro 6000 = $5.40M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服务器价格拆解 — 硬件成本构成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4187952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731520"/>
            <a:ext cx="4206240" cy="4187952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4206240" cy="32918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 服务器 — 单台 $60,000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329184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73152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服务器 — 单台 $140,000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47472" y="1133856"/>
          <a:ext cx="4059936" cy="1975104"/>
        </p:xfrm>
        <a:graphic>
          <a:graphicData uri="http://schemas.openxmlformats.org/drawingml/2006/table">
            <a:tbl>
              <a:tblPr/>
              <a:tblGrid>
                <a:gridCol w="2304288"/>
                <a:gridCol w="420624"/>
                <a:gridCol w="667512"/>
                <a:gridCol w="667512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RTX 5090 32GB 显卡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~$4,500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服务器平台（ASUS ESC4000A-E12，4U）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CPU（AMD EPYC 9354P，32核）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~$2,500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内存（DDR5 ECC 512GB）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 + 网络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线缆、风扇及其他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合计（估算）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47472" y="3566160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GPU成本占服务器总价60%。消费级显卡服务器化 — 定制/半定制构建。</a:t>
            </a:r>
            <a:endParaRPr lang="en-US" sz="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736592" y="1133856"/>
          <a:ext cx="4059936" cy="1975104"/>
        </p:xfrm>
        <a:graphic>
          <a:graphicData uri="http://schemas.openxmlformats.org/drawingml/2006/table">
            <a:tbl>
              <a:tblPr/>
              <a:tblGrid>
                <a:gridCol w="2157984"/>
                <a:gridCol w="420624"/>
                <a:gridCol w="713232"/>
                <a:gridCol w="768096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RTX Pro 6000 Blackwell 96GB 服务器版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$13,250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服务器平台（ASUS ESC8000A-E12P）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CPU（AMD EPYC 9554P，64核）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内存（DDR5 ECC 1TB）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 + 网络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线缆、风扇及其他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1套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合计（估算）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~$140,000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36592" y="3566160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GPU成本占服务器总价75.7%。平台报价：ASUS ESC8000A-E12P商业估价。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市场价格核实 — 数据来源（2026年8月）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GPU单价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868680"/>
                <a:gridCol w="2880360"/>
                <a:gridCol w="192024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使用型号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采用价格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市场依据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GeForce RTX 5090 32GB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~$4,500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零售价 $4,329–$5,000+（2026年7月）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Tom's Hardware、Amazon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Pro 6000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Blackwell 服务器版 96GB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$13,250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NVIDIA官方（从$8,565上调，涨幅+55%）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NVIDIA、Newegg（$14,999）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320040" y="1755648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整机服务器价格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320040" y="2011680"/>
          <a:ext cx="8503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2834640"/>
                <a:gridCol w="210312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市场参考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价格区间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 RTX 5090 服务器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定制/OEM构建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欧洲GPU供应商（Camino、LeaderGPU）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€50,000（约$54K）；7卡配置 $30K+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 RTX Pro 6000 服务器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ASUS ESC8000A-E12P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商业B2B报价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$130,000–$150,000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2761488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GPU租赁市场价格（参考）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/>
        </p:nvGraphicFramePr>
        <p:xfrm>
          <a:off x="320040" y="301752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1097280"/>
                <a:gridCol w="914400"/>
                <a:gridCol w="347472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采用租价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市场低位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市场中位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市场高位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$0.63/hr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$0.99/hr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Vast.ai, CloudRift, Runcrate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Pro 6000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$0.63/hr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$1.73/hr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$3.03/hr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RunPod, Spheron, Vast.ai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3730752"/>
            <a:ext cx="85039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11480" y="373075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我们的定价处于市场中位数或略低，属于保守收入假设。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20040" y="4096512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数据来源：Tom's Hardware（2026年8月）· NVIDIA.com · Vast.ai · Videocardz.com · LeaderGPU.com · RunPod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RTX 5090 — 完整财务模型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269748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49808"/>
            <a:ext cx="2697480" cy="2926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资本支出 — 合计 $2.70M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890065" cy="2560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189006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 78%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01545" y="1170432"/>
            <a:ext cx="533095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1545" y="1170432"/>
            <a:ext cx="53309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 22%</a:t>
            </a:r>
            <a:endParaRPr lang="en-US" sz="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47472" y="1499616"/>
          <a:ext cx="2551176" cy="1371600"/>
        </p:xfrm>
        <a:graphic>
          <a:graphicData uri="http://schemas.openxmlformats.org/drawingml/2006/table">
            <a:tbl>
              <a:tblPr/>
              <a:tblGrid>
                <a:gridCol w="1664208"/>
                <a:gridCol w="886968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金额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服务器资本支出（35台 × $60K）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集装箱（$400K）+ 场地（$200K）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总资本支出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单GPU资本支出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$9,643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154680" y="749808"/>
            <a:ext cx="315468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4680" y="749808"/>
            <a:ext cx="3154680" cy="2926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74980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年度损益</a:t>
            </a:r>
            <a:endParaRPr lang="en-US" sz="10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/>
        </p:nvGraphicFramePr>
        <p:xfrm>
          <a:off x="3227832" y="1133856"/>
          <a:ext cx="3008376" cy="2194560"/>
        </p:xfrm>
        <a:graphic>
          <a:graphicData uri="http://schemas.openxmlformats.org/drawingml/2006/table">
            <a:tbl>
              <a:tblPr/>
              <a:tblGrid>
                <a:gridCol w="1847088"/>
                <a:gridCol w="1161288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金额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营业收入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$1,471,680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总运营成本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($383,635)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$1,088,045  (73.9%)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折旧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($378,000)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息税前利润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$710,045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税款（25.99%）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($177,052)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$910,993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92240" y="749808"/>
            <a:ext cx="237744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749808"/>
            <a:ext cx="2377440" cy="2926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7498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回报指标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601968" y="11704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01968" y="12070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静态回收期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601968" y="14264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2.97 yrs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601968" y="20848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01968" y="21214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内部收益率（5年）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601968" y="23408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~22%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6601968" y="29992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01968" y="30358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净现值（折现率10%）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601968" y="32552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$883K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583680" y="3986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盈亏平衡：第3年（累计 +$33K）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583680" y="424281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第5年服务器残值 $210K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RTX Pro 6000 — 完整财务模型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269748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49808"/>
            <a:ext cx="2697480" cy="292608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资本支出 — 合计 $5.50M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156612" cy="25603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1566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 89%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8092" y="1170432"/>
            <a:ext cx="266548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53896"/>
            <a:ext cx="2551176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 89% | 基础设施 11%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47472" y="1709928"/>
          <a:ext cx="2551176" cy="1371600"/>
        </p:xfrm>
        <a:graphic>
          <a:graphicData uri="http://schemas.openxmlformats.org/drawingml/2006/table">
            <a:tbl>
              <a:tblPr/>
              <a:tblGrid>
                <a:gridCol w="1664208"/>
                <a:gridCol w="886968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金额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服务器资本支出（35台 × $140K）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$4,900,000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集装箱 + 场地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总资本支出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单GPU资本支出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$19,643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154680" y="749808"/>
            <a:ext cx="315468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4680" y="749808"/>
            <a:ext cx="3154680" cy="292608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74980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年度损益</a:t>
            </a:r>
            <a:endParaRPr lang="en-US" sz="10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/>
        </p:nvGraphicFramePr>
        <p:xfrm>
          <a:off x="3227832" y="1133856"/>
          <a:ext cx="3008376" cy="2194560"/>
        </p:xfrm>
        <a:graphic>
          <a:graphicData uri="http://schemas.openxmlformats.org/drawingml/2006/table">
            <a:tbl>
              <a:tblPr/>
              <a:tblGrid>
                <a:gridCol w="1847088"/>
                <a:gridCol w="1161288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金额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营业收入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$3,924,480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总运营成本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($493,367)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$3,431,113  (87.4%)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折旧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($882,000)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息税前利润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$2,549,113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税款（25.99%）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($635,369)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$2,795,744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92240" y="749808"/>
            <a:ext cx="237744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749808"/>
            <a:ext cx="2377440" cy="292608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7498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回报指标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601968" y="11704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01968" y="12070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静态回收期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601968" y="14264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1.97 yrs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601968" y="20848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01968" y="21214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内部收益率（5年）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601968" y="23408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6601968" y="2999232"/>
            <a:ext cx="2157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01968" y="303580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净现值（折现率10%）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601968" y="325526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$5.40M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583680" y="3986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盈亏平衡：第2年（累计 +$91K）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583680" y="424281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第5年服务器残值 $490K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附录 A — 基础设施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749808"/>
          <a:ext cx="8503920" cy="3182112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2926080"/>
                <a:gridCol w="2286000"/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资本支出假设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数值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运营成本假设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数值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服务器数量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电力PUE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集装箱成本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GPU功耗（RTX 5090）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575W per 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场地建设成本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GPU功耗（Pro 6000）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300W per 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基础设施小计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电费单价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$0.06/kWh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折旧年限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托管/主机费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$5,000/mo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折旧方法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直线法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互联网带宽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$500/mo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税率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保险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$1,000/mo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折现率（NPV）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维护储备金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服务器资本支出2%/年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每台服务器GPU数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8块GPU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管理/运营人工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$3,000/mo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GPU总量（35台服务器）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280块GPU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出租率假设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分析周期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租赁定价基准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2026年8月市场价格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共用基础设施成本（$600K）平均分摊至两种GPU配置。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附录 C — 完整运营成本拆解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5090（年度）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1024128"/>
          <a:ext cx="4206240" cy="2468880"/>
        </p:xfrm>
        <a:graphic>
          <a:graphicData uri="http://schemas.openxmlformats.org/drawingml/2006/table">
            <a:tbl>
              <a:tblPr/>
              <a:tblGrid>
                <a:gridCol w="2971800"/>
                <a:gridCol w="1234440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运营成本项目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电费（280 × 575W × PUE 1.15 × $0.06/kWh）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$98,716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托管/主机托管费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互联网带宽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保险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维护储备金（$2.1M的2%）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管理/运营人工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其他/应急（3%）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$8,919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其他平台费用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年度运营成本合计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$383,635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09160" y="74980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6000（年度）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4709160" y="1024128"/>
          <a:ext cx="4114800" cy="2468880"/>
        </p:xfrm>
        <a:graphic>
          <a:graphicData uri="http://schemas.openxmlformats.org/drawingml/2006/table">
            <a:tbl>
              <a:tblPr/>
              <a:tblGrid>
                <a:gridCol w="2971800"/>
                <a:gridCol w="1143000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运营成本项目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电费（280 × 300W × PUE 1.15 × $0.06/kWh）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$51,408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托管/主机托管费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互联网带宽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保险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维护储备金（$4.9M的2%）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管理/运营人工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其他/应急（3%）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$13,959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其他平台费用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年度运营成本合计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$493,367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041648"/>
            <a:ext cx="8321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每GPU/小时收入：RTX 5090 = $0.60/hr  |  RTX Pro 6000 = $1.60/hr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 EBITDA利润率：73.9%   |   RTX Pro 6000 EBITDA利润率：87.4%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6000运营成本绝对值高出29%，但营收高出167%，因此利润率更优。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附录 B — 5年现金流明细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20040" y="100584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第0年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第2年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第3年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第4年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第5年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-878K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+944K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1865376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绿色单元格 = 盈亏平衡年  （数值单位：千/百万）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709160" y="74980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Blackwell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470916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30352"/>
                <a:gridCol w="530352"/>
                <a:gridCol w="530352"/>
                <a:gridCol w="530352"/>
                <a:gridCol w="530352"/>
                <a:gridCol w="54864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第0年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第2年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第3年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第4年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第5年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累计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+91K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+9.0M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709160" y="186537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绿色单元格 = 盈亏平衡年  （数值已简化）</a:t>
            </a:r>
            <a:endParaRPr lang="en-US" sz="800" dirty="0"/>
          </a:p>
        </p:txBody>
      </p:sp>
      <p:sp>
        <p:nvSpPr>
          <p:cNvPr id="4" name="Text 5"/>
          <p:cNvSpPr/>
          <p:nvPr/>
        </p:nvSpPr>
        <p:spPr>
          <a:xfrm>
            <a:off x="320040" y="2139696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核心回报指标对比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/>
        </p:nvGraphicFramePr>
        <p:xfrm>
          <a:off x="320040" y="2404872"/>
          <a:ext cx="8503920" cy="1792224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265176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Pro 6000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优势方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总资本支出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5090（较低启动成本）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年度净现金流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$910,993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$2,795,744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6000（+207%）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静态回收期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6000（-1.0年）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内部收益率（5年）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6000（+19个百分点）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净现值（折现率10%）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$883,000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$5,400,000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6000（+$4.52M）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5年累计现金流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+$2,064,965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+$8,968,720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6000（4.3倍）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3759</Words>
  <Application>WPS Docs</Application>
  <PresentationFormat>On-screen Show (16:9)</PresentationFormat>
  <Paragraphs>800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Calibri</vt:lpstr>
      <vt:lpstr>Calibri</vt:lpstr>
      <vt:lpstr>Helvetica Neue</vt:lpstr>
      <vt:lpstr>SimSun</vt:lpstr>
      <vt:lpstr>汉仪书宋二KW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WPS_1685103904</cp:lastModifiedBy>
  <cp:revision>3</cp:revision>
  <dcterms:created xsi:type="dcterms:W3CDTF">2026-08-12T08:49:13Z</dcterms:created>
  <dcterms:modified xsi:type="dcterms:W3CDTF">2026-08-12T08:49:13Z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41342A6E1AA664D989337C6ADA15EDD9_43</vt:lpwstr>
  </property>
  <property fmtid="{D5CDD505-2E9C-101B-9397-08002B2CF9AE}" pid="3" name="KSOProductBuildVer">
    <vt:lpwstr>1033-12.1.26050.26050</vt:lpwstr>
  </property>
</Properties>
</file>